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75" r:id="rId4"/>
    <p:sldId id="276" r:id="rId5"/>
    <p:sldId id="277" r:id="rId6"/>
    <p:sldId id="278" r:id="rId7"/>
    <p:sldId id="279" r:id="rId8"/>
    <p:sldId id="281" r:id="rId9"/>
    <p:sldId id="280" r:id="rId10"/>
    <p:sldId id="283" r:id="rId11"/>
    <p:sldId id="28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51"/>
  </p:normalViewPr>
  <p:slideViewPr>
    <p:cSldViewPr snapToGrid="0">
      <p:cViewPr varScale="1">
        <p:scale>
          <a:sx n="110" d="100"/>
          <a:sy n="110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4264-62F5-D8C5-88B4-81AC82B31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8753B-7CAE-7086-D424-C66094350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89278-047D-F3F4-6E83-017D8313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6DA58-3324-1B4B-09D9-E2FE1AF9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BC60-BBF4-7736-7BC1-38D4FAFC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F488-E3D3-44AB-B105-D6F769338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6838D-9BB2-CE40-62B9-909F44477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AF4D-32BD-1A5B-E2E4-7FDC3303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5AB5-C05F-CDA2-94DD-C6FA31165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F480E-CDD9-18D8-52E8-D9A06997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5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1742-5CFC-7035-E175-D93AD5A6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93979-8E26-F369-0AA6-1FD4EAC17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1ED7C-2ED8-45E9-8D0A-7B27D538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CD324-D0B8-2CBF-4EC9-4074A0E2D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866EE-4DA7-7D2C-7781-2B71994C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4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C4E6-5543-BA28-BAFD-26352BAB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3116D-3421-5661-4DD9-8E1035EC5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03AF4-CDA3-E6CF-92FC-B02CFB51E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B842F-FC67-F0DD-3FA2-783EC4AF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B7BD4-3600-7908-F85B-6BF58610B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758FB-1389-69F9-0A21-FF3D2EA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0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1BEB-EDA8-A7E3-3251-A7E4474DF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C7953-F33D-E0E4-CBD5-33723C79D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F43AD-3F81-BD68-3A4D-88247199F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8516B-8262-B2D4-5A82-91AC4FF2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0CD1E-9A4F-2DA5-5ECF-D62249A08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2C17B6-7B77-3783-2003-E5DC4785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6E0F78-6EEF-334D-A4DB-6DE25BAB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596CD-A9E2-BA1A-2944-AC2C3BE77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5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D7C1-643E-E0EB-1602-1186CB821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8AA2F-20F5-E1BE-CF3D-E2C95E2A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F8F554-4671-41D4-D32D-1652EB24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BDA9D-503D-4118-8B23-730604E8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6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4AFCF-6B75-E524-A01B-991988EB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8330B-FE95-065F-96D2-31A6004D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71E7F-0B41-8EE5-E176-5CDF6EB59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C4B5-26B6-4F17-8B19-FB475B53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79710-A28F-5591-928F-4628AA96F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A1F1A-1A5A-DB9C-A9C1-61B1F4B92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F21B5-59E6-E4CC-1057-F34DA3E2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1507B-D125-7575-DDA4-D05A2124B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1D245-7D41-F9AA-A071-7FFE9D90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5C82-7A70-C78E-1822-2291C594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1B326-503A-019D-9788-1847E0EFD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B2B4E-E492-CA55-89AD-F05893BC4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9969D-3212-3FFB-4436-5C704F70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610FB-760B-DA48-ABEE-D33C5BC1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C1408-A637-C755-19E5-441D51A3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4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F02F-F584-6C00-A6E9-9C06CFDE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36498-2E0A-5F96-7D91-A02904048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5C912-97C8-2A23-44BC-D30E4FB35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39162-52FF-0859-4279-9F2291F9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84F1-F053-B124-6B28-33DDDDA7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81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EB2EA-9515-CBD1-91C4-090E7082C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72B42-2573-E541-77F2-B7E149F5C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CC76-B28E-0F0E-ACC7-57906DE8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2DCEE-F35F-1A93-30D0-5BDED4E7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F9B3A-F351-8976-C84F-6101F080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8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88929-FFFE-2B78-DA68-89F489EB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72A60-FEC4-79DF-256C-E272534DA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E0D36-EFE4-C144-2C97-D95999E7E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4CF30-5C76-F944-8CAC-94F09A985D84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918CB-5F61-2A35-416E-B21680754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9CA25-7FA8-192F-4CA1-DDF075F19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7DA39-39F2-B344-8404-BDE000F17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2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A46FC-C87E-33C9-44B4-84978AF3C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774696"/>
            <a:ext cx="10905066" cy="1308608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DCF5E2-0041-9DF8-CC9B-98A8874F4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863" y="5118650"/>
            <a:ext cx="4429125" cy="11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9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Recruit! </a:t>
            </a:r>
            <a:r>
              <a:rPr lang="en-US" dirty="0">
                <a:latin typeface="Gill Sans MT" panose="020B0502020104020203" pitchFamily="34" charset="77"/>
              </a:rPr>
              <a:t>Multiple Recruitment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38567"/>
          </a:xfrm>
        </p:spPr>
        <p:txBody>
          <a:bodyPr/>
          <a:lstStyle/>
          <a:p>
            <a:pPr fontAlgn="base"/>
            <a:r>
              <a:rPr lang="en-US" dirty="0">
                <a:latin typeface="Gill Sans MT" panose="020B0502020104020203" pitchFamily="34" charset="77"/>
              </a:rPr>
              <a:t>Worship Service elements - signage, announcements</a:t>
            </a:r>
          </a:p>
          <a:p>
            <a:pPr fontAlgn="base"/>
            <a:r>
              <a:rPr lang="en-US" dirty="0">
                <a:latin typeface="Gill Sans MT" panose="020B0502020104020203" pitchFamily="34" charset="77"/>
              </a:rPr>
              <a:t>Digital - online, social media, email marketing</a:t>
            </a:r>
          </a:p>
          <a:p>
            <a:pPr fontAlgn="base"/>
            <a:r>
              <a:rPr lang="en-US" dirty="0">
                <a:latin typeface="Gill Sans MT" panose="020B0502020104020203" pitchFamily="34" charset="77"/>
              </a:rPr>
              <a:t>Word of mouth/referrals</a:t>
            </a:r>
          </a:p>
          <a:p>
            <a:pPr fontAlgn="base">
              <a:spcAft>
                <a:spcPts val="2400"/>
              </a:spcAft>
            </a:pPr>
            <a:r>
              <a:rPr lang="en-US" dirty="0">
                <a:latin typeface="Gill Sans MT" panose="020B0502020104020203" pitchFamily="34" charset="77"/>
              </a:rPr>
              <a:t>In-person events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2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Recruit! </a:t>
            </a:r>
            <a:r>
              <a:rPr lang="en-US" dirty="0">
                <a:latin typeface="Gill Sans MT" panose="020B0502020104020203" pitchFamily="34" charset="77"/>
              </a:rPr>
              <a:t>Streamlined Messaging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08016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Gill Sans MT" panose="020B0502020104020203" pitchFamily="34" charset="77"/>
              </a:rPr>
              <a:t>Serving is a form of worship - Gather!</a:t>
            </a:r>
          </a:p>
          <a:p>
            <a:pPr fontAlgn="base"/>
            <a:r>
              <a:rPr lang="en-US" dirty="0">
                <a:latin typeface="Gill Sans MT" panose="020B0502020104020203" pitchFamily="34" charset="77"/>
              </a:rPr>
              <a:t>Deepen your faith through service to others - Grow!</a:t>
            </a:r>
          </a:p>
          <a:p>
            <a:pPr fontAlgn="base">
              <a:spcAft>
                <a:spcPts val="2400"/>
              </a:spcAft>
            </a:pPr>
            <a:r>
              <a:rPr lang="en-US" dirty="0">
                <a:latin typeface="Gill Sans MT" panose="020B0502020104020203" pitchFamily="34" charset="77"/>
              </a:rPr>
              <a:t>Make a difference in the life of our church &amp; community - Give!</a:t>
            </a:r>
          </a:p>
          <a:p>
            <a:pPr marL="228600" lvl="1" fontAlgn="base">
              <a:spcBef>
                <a:spcPts val="1000"/>
              </a:spcBef>
              <a:spcAft>
                <a:spcPts val="2400"/>
              </a:spcAft>
            </a:pPr>
            <a:endParaRPr lang="en-US" sz="2800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Recruit! </a:t>
            </a:r>
            <a:r>
              <a:rPr lang="en-US" dirty="0">
                <a:latin typeface="Gill Sans MT" panose="020B0502020104020203" pitchFamily="34" charset="77"/>
              </a:rPr>
              <a:t>Spiritual Gifts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61717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Gill Sans MT" panose="020B0502020104020203" pitchFamily="34" charset="77"/>
              </a:rPr>
              <a:t>Encourage participation</a:t>
            </a:r>
          </a:p>
          <a:p>
            <a:pPr fontAlgn="base"/>
            <a:r>
              <a:rPr lang="en-US" dirty="0">
                <a:latin typeface="Gill Sans MT" panose="020B0502020104020203" pitchFamily="34" charset="77"/>
              </a:rPr>
              <a:t>Put it to practice!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9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Engage &amp; Train! </a:t>
            </a:r>
            <a:r>
              <a:rPr lang="en-US" dirty="0">
                <a:latin typeface="Gill Sans MT" panose="020B0502020104020203" pitchFamily="34" charset="77"/>
              </a:rPr>
              <a:t>Onboarding</a:t>
            </a:r>
            <a:endParaRPr lang="en-US" i="1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3291"/>
          </a:xfrm>
        </p:spPr>
        <p:txBody>
          <a:bodyPr>
            <a:norm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The Welcome Phone Call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Tip: text first and request a time to talk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Things to cover up front: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Requirements &amp; expectations (general responsibilities, time commitment, expected conduct, how to dress, other nuances of the position)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Confirm this is the role they want to serve in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When they can expect to hear from you next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When they can expect to start serving</a:t>
            </a:r>
          </a:p>
          <a:p>
            <a:pPr marL="914400" lvl="2" indent="0" fontAlgn="base">
              <a:buNone/>
            </a:pPr>
            <a:endParaRPr lang="en-US" dirty="0">
              <a:latin typeface="Gill Sans MT" panose="020B0502020104020203" pitchFamily="34" charset="77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i="1" dirty="0">
                <a:latin typeface="Gill Sans MT" panose="020B0502020104020203" pitchFamily="34" charset="77"/>
              </a:rPr>
              <a:t>Due: within 48 hours of sign-up submission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12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Engage &amp; Train! </a:t>
            </a:r>
            <a:r>
              <a:rPr lang="en-US" dirty="0">
                <a:latin typeface="Gill Sans MT" panose="020B0502020104020203" pitchFamily="34" charset="77"/>
              </a:rPr>
              <a:t>Onboarding</a:t>
            </a:r>
            <a:endParaRPr lang="en-US" i="1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3291"/>
          </a:xfrm>
        </p:spPr>
        <p:txBody>
          <a:bodyPr>
            <a:norm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The Welcome Email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Things to include: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Re-cap of topics shared on phone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Leadership/org chart with contact info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Process for schedule changes/cancellations 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Any additional details you need to know about the PATHMAKER (schedule availability, shirt size, etc.)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endParaRPr lang="en-US" i="1" dirty="0">
              <a:latin typeface="Gill Sans MT" panose="020B0502020104020203" pitchFamily="34" charset="77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i="1" dirty="0">
                <a:latin typeface="Gill Sans MT" panose="020B0502020104020203" pitchFamily="34" charset="77"/>
              </a:rPr>
              <a:t>Due: within 24 hours of phone call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9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Engage &amp; Train! </a:t>
            </a:r>
            <a:r>
              <a:rPr lang="en-US" dirty="0">
                <a:latin typeface="Gill Sans MT" panose="020B0502020104020203" pitchFamily="34" charset="77"/>
              </a:rPr>
              <a:t>Onboarding</a:t>
            </a:r>
            <a:endParaRPr lang="en-US" i="1" dirty="0">
              <a:latin typeface="Gill Sans MT" panose="020B0502020104020203" pitchFamily="34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32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Orientation / Training Session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Role-specific training</a:t>
            </a:r>
          </a:p>
          <a:p>
            <a:pPr lvl="2" fontAlgn="base">
              <a:spcAft>
                <a:spcPts val="0"/>
              </a:spcAft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Cover tasks, procedures, and best practices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General training</a:t>
            </a:r>
          </a:p>
          <a:p>
            <a:pPr lvl="2" fontAlgn="base">
              <a:spcAft>
                <a:spcPts val="0"/>
              </a:spcAft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Church policies and procedures</a:t>
            </a:r>
          </a:p>
          <a:p>
            <a:pPr lvl="2" fontAlgn="base">
              <a:spcAft>
                <a:spcPts val="0"/>
              </a:spcAft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Confidentiality and data protection</a:t>
            </a:r>
          </a:p>
          <a:p>
            <a:pPr lvl="2" fontAlgn="base">
              <a:spcAft>
                <a:spcPts val="0"/>
              </a:spcAft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Emergency procedures (first aid response, evacuation, etc.)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On-the-job training</a:t>
            </a:r>
          </a:p>
          <a:p>
            <a:pPr lvl="2" fontAlgn="base">
              <a:spcAft>
                <a:spcPts val="0"/>
              </a:spcAft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Pair new PATHMAKERS with experienced coaches/mentors</a:t>
            </a:r>
          </a:p>
          <a:p>
            <a:pPr lvl="1" fontAlgn="base">
              <a:lnSpc>
                <a:spcPct val="100000"/>
              </a:lnSpc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Encourage questions and feedback</a:t>
            </a:r>
          </a:p>
          <a:p>
            <a:pPr lvl="2" fontAlgn="base">
              <a:spcAft>
                <a:spcPts val="2400"/>
              </a:spcAft>
              <a:buFont typeface="Courier New" panose="02070309020205020404" pitchFamily="49" charset="0"/>
              <a:buChar char="o"/>
            </a:pPr>
            <a:endParaRPr lang="en-US" sz="2100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7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Nurture &amp; Retain!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3291"/>
          </a:xfrm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</a:pPr>
            <a:r>
              <a:rPr lang="en-US" dirty="0">
                <a:latin typeface="Gill Sans MT" panose="020B0502020104020203" pitchFamily="34" charset="77"/>
              </a:rPr>
              <a:t>Open Communication - always be open to giving &amp; receiving feedback</a:t>
            </a:r>
          </a:p>
          <a:p>
            <a:pPr lvl="1" fontAlgn="base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Regular surveys to gauge PATHMAKER satisfaction and effectiveness</a:t>
            </a:r>
          </a:p>
          <a:p>
            <a:pPr lvl="1" fontAlgn="base">
              <a:lnSpc>
                <a:spcPct val="110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Sit-down evaluations (time-based or upon exit)</a:t>
            </a:r>
          </a:p>
          <a:p>
            <a:pPr lvl="1" fontAlgn="base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Adjustments and improvements</a:t>
            </a:r>
          </a:p>
          <a:p>
            <a:pPr lvl="2" fontAlgn="base">
              <a:lnSpc>
                <a:spcPct val="100000"/>
              </a:lnSpc>
              <a:spcAft>
                <a:spcPts val="2400"/>
              </a:spcAft>
              <a:buFont typeface="Wingdings" pitchFamily="2" charset="2"/>
              <a:buChar char="§"/>
            </a:pPr>
            <a:r>
              <a:rPr lang="en-US" sz="2300" dirty="0">
                <a:latin typeface="Gill Sans MT" panose="020B0502020104020203" pitchFamily="34" charset="77"/>
              </a:rPr>
              <a:t>Based upon survey and evaluation results</a:t>
            </a:r>
          </a:p>
          <a:p>
            <a:pPr marL="228600" lvl="2" fontAlgn="base">
              <a:spcBef>
                <a:spcPts val="0"/>
              </a:spcBef>
              <a:spcAft>
                <a:spcPts val="2400"/>
              </a:spcAft>
            </a:pPr>
            <a:r>
              <a:rPr lang="en-US" sz="2800" dirty="0">
                <a:latin typeface="Gill Sans MT" panose="020B0502020104020203" pitchFamily="34" charset="77"/>
              </a:rPr>
              <a:t>Address all concerns and conflicts promptly</a:t>
            </a:r>
          </a:p>
          <a:p>
            <a:pPr lvl="2" fontAlgn="base">
              <a:spcAft>
                <a:spcPts val="2400"/>
              </a:spcAft>
              <a:buFont typeface="Courier New" panose="02070309020205020404" pitchFamily="49" charset="0"/>
              <a:buChar char="o"/>
            </a:pPr>
            <a:endParaRPr lang="en-US" sz="2100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4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Nurture &amp; Retain!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3291"/>
          </a:xfrm>
        </p:spPr>
        <p:txBody>
          <a:bodyPr>
            <a:normAutofit/>
          </a:bodyPr>
          <a:lstStyle/>
          <a:p>
            <a:pPr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Personal, frequent thank-</a:t>
            </a:r>
            <a:r>
              <a:rPr lang="en-US" dirty="0" err="1">
                <a:latin typeface="Gill Sans MT" panose="020B0502020104020203" pitchFamily="34" charset="77"/>
              </a:rPr>
              <a:t>yous</a:t>
            </a:r>
            <a:endParaRPr lang="en-US" dirty="0">
              <a:latin typeface="Gill Sans MT" panose="020B0502020104020203" pitchFamily="34" charset="77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Recognize routinely – personally and publicly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A face-to-face “thank you” is always appreciated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Handwritten notes are cherished!</a:t>
            </a:r>
          </a:p>
          <a:p>
            <a:pPr lvl="2" fontAlgn="base">
              <a:buFont typeface="Wingdings" pitchFamily="2" charset="2"/>
              <a:buChar char="§"/>
            </a:pPr>
            <a:r>
              <a:rPr lang="en-US" sz="2100" dirty="0">
                <a:latin typeface="Gill Sans MT" panose="020B0502020104020203" pitchFamily="34" charset="77"/>
              </a:rPr>
              <a:t>Shout-out exemplary performance in a way that works for your group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On-going support</a:t>
            </a:r>
          </a:p>
          <a:p>
            <a:pPr lvl="1" fontAlgn="base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Training sessions as roles evolve</a:t>
            </a:r>
          </a:p>
          <a:p>
            <a:pPr lvl="1" fontAlgn="base"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Coaching/mentorship/leadership opportunities</a:t>
            </a:r>
            <a:endParaRPr lang="en-US" sz="2100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37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0BF7-5739-2B78-B5FD-55EEB3CA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Gill Sans MT" panose="020B0502020104020203" pitchFamily="34" charset="77"/>
              </a:rPr>
              <a:t>Nurture &amp; Retain!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32F3-0D1D-50EF-F3E3-E93BD3F26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73291"/>
          </a:xfrm>
        </p:spPr>
        <p:txBody>
          <a:bodyPr>
            <a:normAutofit/>
          </a:bodyPr>
          <a:lstStyle/>
          <a:p>
            <a:pPr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Campus-wide appreciation party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Big blow-out party!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Fun for everyone!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dirty="0">
                <a:latin typeface="Gill Sans MT" panose="020B0502020104020203" pitchFamily="34" charset="77"/>
              </a:rPr>
              <a:t>We ❤️ PATHMAKERS!!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</a:endParaRPr>
          </a:p>
          <a:p>
            <a:pPr lvl="1"/>
            <a:endParaRPr lang="en-US" dirty="0">
              <a:latin typeface="Gill Sans MT" panose="020B0502020104020203" pitchFamily="34" charset="77"/>
            </a:endParaRPr>
          </a:p>
          <a:p>
            <a:pPr marL="457200" lvl="1" indent="0">
              <a:buNone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34496C3-CF83-8BD6-020A-03B95B3F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0" y="6134421"/>
            <a:ext cx="2988189" cy="3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29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3A46FC-C87E-33C9-44B4-84978AF3C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774696"/>
            <a:ext cx="10905066" cy="1308608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DCF5E2-0041-9DF8-CC9B-98A8874F4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863" y="5118650"/>
            <a:ext cx="4429125" cy="11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98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388</Words>
  <Application>Microsoft Macintosh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Gill Sans MT</vt:lpstr>
      <vt:lpstr>Wingdings</vt:lpstr>
      <vt:lpstr>Office Theme</vt:lpstr>
      <vt:lpstr>PowerPoint Presentation</vt:lpstr>
      <vt:lpstr>Recruit! Multiple Recruitment Channels</vt:lpstr>
      <vt:lpstr>Recruit! Streamlined Messaging</vt:lpstr>
      <vt:lpstr>Recruit! Spiritual Gifts Assessment</vt:lpstr>
      <vt:lpstr>Engage &amp; Train! Onboarding</vt:lpstr>
      <vt:lpstr>Engage &amp; Train! Onboarding</vt:lpstr>
      <vt:lpstr>Engage &amp; Train! Onboarding</vt:lpstr>
      <vt:lpstr>Nurture &amp; Retain!</vt:lpstr>
      <vt:lpstr>Nurture &amp; Retain! </vt:lpstr>
      <vt:lpstr>Nurture &amp; Retain!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Aimee Gomez</dc:creator>
  <cp:lastModifiedBy>Amanda Brown</cp:lastModifiedBy>
  <cp:revision>4</cp:revision>
  <dcterms:created xsi:type="dcterms:W3CDTF">2024-08-27T18:42:31Z</dcterms:created>
  <dcterms:modified xsi:type="dcterms:W3CDTF">2024-08-27T21:51:06Z</dcterms:modified>
</cp:coreProperties>
</file>